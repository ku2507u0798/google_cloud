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5" r:id="rId10"/>
    <p:sldId id="267" r:id="rId11"/>
    <p:sldId id="268" r:id="rId12"/>
    <p:sldId id="263" r:id="rId13"/>
  </p:sldIdLst>
  <p:sldSz cx="18288000" cy="10287000"/>
  <p:notesSz cx="6858000" cy="9144000"/>
  <p:embeddedFontLst>
    <p:embeddedFont>
      <p:font typeface="Arial MT Pro Bold" panose="020B0604020202020204" charset="0"/>
      <p:regular r:id="rId14"/>
    </p:embeddedFont>
    <p:embeddedFont>
      <p:font typeface="Open Sans Bold" panose="020B0604020202020204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15A"/>
    <a:srgbClr val="3E385A"/>
    <a:srgbClr val="201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" d="100"/>
          <a:sy n="10" d="100"/>
        </p:scale>
        <p:origin x="3250" y="15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5CFEA3-7ED2-4CC7-ADC0-E5D4AD570F7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E6EBDFA-95AC-4CAC-B5E5-DF370015CA29}">
      <dgm:prSet/>
      <dgm:spPr>
        <a:solidFill>
          <a:srgbClr val="38415A"/>
        </a:solidFill>
      </dgm:spPr>
      <dgm:t>
        <a:bodyPr/>
        <a:lstStyle/>
        <a:p>
          <a:r>
            <a:rPr lang="en-IN"/>
            <a:t>1. User</a:t>
          </a:r>
        </a:p>
      </dgm:t>
    </dgm:pt>
    <dgm:pt modelId="{1065AADF-835C-4F0A-A4BA-A49FE9AE4A45}" type="parTrans" cxnId="{8C1F58AD-D082-4557-BEEB-3FE87E1ABD1A}">
      <dgm:prSet/>
      <dgm:spPr/>
      <dgm:t>
        <a:bodyPr/>
        <a:lstStyle/>
        <a:p>
          <a:endParaRPr lang="en-IN"/>
        </a:p>
      </dgm:t>
    </dgm:pt>
    <dgm:pt modelId="{FE306AB0-BBA4-442D-9AB0-FA36EBA17753}" type="sibTrans" cxnId="{8C1F58AD-D082-4557-BEEB-3FE87E1ABD1A}">
      <dgm:prSet/>
      <dgm:spPr/>
      <dgm:t>
        <a:bodyPr/>
        <a:lstStyle/>
        <a:p>
          <a:endParaRPr lang="en-IN"/>
        </a:p>
      </dgm:t>
    </dgm:pt>
    <dgm:pt modelId="{0E5B3CA6-9261-446B-8F5B-CB3AFA646A16}">
      <dgm:prSet/>
      <dgm:spPr>
        <a:solidFill>
          <a:srgbClr val="38415A"/>
        </a:solidFill>
      </dgm:spPr>
      <dgm:t>
        <a:bodyPr/>
        <a:lstStyle/>
        <a:p>
          <a:r>
            <a:rPr lang="en-US" dirty="0"/>
            <a:t>User clicks on the interface, enters data, or requests an action.</a:t>
          </a:r>
          <a:endParaRPr lang="en-IN" dirty="0"/>
        </a:p>
      </dgm:t>
    </dgm:pt>
    <dgm:pt modelId="{02DCBAED-3F81-4D46-831B-1D470FFD90F4}" type="parTrans" cxnId="{95D87D5E-C6A2-4AFB-AB24-0B76D9F4770F}">
      <dgm:prSet/>
      <dgm:spPr/>
      <dgm:t>
        <a:bodyPr/>
        <a:lstStyle/>
        <a:p>
          <a:endParaRPr lang="en-IN"/>
        </a:p>
      </dgm:t>
    </dgm:pt>
    <dgm:pt modelId="{C3E16BAB-D12F-4FBD-8ADA-2B61AC4045B3}" type="sibTrans" cxnId="{95D87D5E-C6A2-4AFB-AB24-0B76D9F4770F}">
      <dgm:prSet/>
      <dgm:spPr/>
      <dgm:t>
        <a:bodyPr/>
        <a:lstStyle/>
        <a:p>
          <a:endParaRPr lang="en-IN"/>
        </a:p>
      </dgm:t>
    </dgm:pt>
    <dgm:pt modelId="{B4D6FB11-E566-42FD-A11F-602EAA63B77C}">
      <dgm:prSet/>
      <dgm:spPr>
        <a:solidFill>
          <a:srgbClr val="38415A"/>
        </a:solidFill>
      </dgm:spPr>
      <dgm:t>
        <a:bodyPr/>
        <a:lstStyle/>
        <a:p>
          <a:r>
            <a:rPr lang="en-US"/>
            <a:t>2. Web App</a:t>
          </a:r>
          <a:endParaRPr lang="en-IN"/>
        </a:p>
      </dgm:t>
    </dgm:pt>
    <dgm:pt modelId="{7A297B94-3753-4206-B0B5-ED4A4492F46E}" type="parTrans" cxnId="{1BEE5A05-E2E7-4F84-A9BB-4BFFA0D5597F}">
      <dgm:prSet/>
      <dgm:spPr/>
      <dgm:t>
        <a:bodyPr/>
        <a:lstStyle/>
        <a:p>
          <a:endParaRPr lang="en-IN"/>
        </a:p>
      </dgm:t>
    </dgm:pt>
    <dgm:pt modelId="{5493667E-D875-4480-BC38-874BF87380DF}" type="sibTrans" cxnId="{1BEE5A05-E2E7-4F84-A9BB-4BFFA0D5597F}">
      <dgm:prSet/>
      <dgm:spPr/>
      <dgm:t>
        <a:bodyPr/>
        <a:lstStyle/>
        <a:p>
          <a:endParaRPr lang="en-IN"/>
        </a:p>
      </dgm:t>
    </dgm:pt>
    <dgm:pt modelId="{B34508F7-5794-4BF7-9468-13947573C4BF}">
      <dgm:prSet/>
      <dgm:spPr>
        <a:solidFill>
          <a:srgbClr val="38415A"/>
        </a:solidFill>
      </dgm:spPr>
      <dgm:t>
        <a:bodyPr/>
        <a:lstStyle/>
        <a:p>
          <a:r>
            <a:rPr lang="en-US" dirty="0"/>
            <a:t>Web App Request: -Web App processes the user's input and initiates a request.</a:t>
          </a:r>
          <a:r>
            <a:rPr lang="en-IN" dirty="0"/>
            <a:t>	</a:t>
          </a:r>
        </a:p>
      </dgm:t>
    </dgm:pt>
    <dgm:pt modelId="{EEC02860-A3F1-426B-86D5-E3676025B801}" type="parTrans" cxnId="{73414120-F4CA-4397-AADE-9282317B66DE}">
      <dgm:prSet/>
      <dgm:spPr/>
      <dgm:t>
        <a:bodyPr/>
        <a:lstStyle/>
        <a:p>
          <a:endParaRPr lang="en-IN"/>
        </a:p>
      </dgm:t>
    </dgm:pt>
    <dgm:pt modelId="{886EC02E-CF8A-475D-B90D-B17314FF40E6}" type="sibTrans" cxnId="{73414120-F4CA-4397-AADE-9282317B66DE}">
      <dgm:prSet/>
      <dgm:spPr/>
      <dgm:t>
        <a:bodyPr/>
        <a:lstStyle/>
        <a:p>
          <a:endParaRPr lang="en-IN"/>
        </a:p>
      </dgm:t>
    </dgm:pt>
    <dgm:pt modelId="{B41A932F-20F9-4A05-8484-66FDB3F135F1}">
      <dgm:prSet/>
      <dgm:spPr>
        <a:solidFill>
          <a:srgbClr val="38415A"/>
        </a:solidFill>
      </dgm:spPr>
      <dgm:t>
        <a:bodyPr/>
        <a:lstStyle/>
        <a:p>
          <a:r>
            <a:rPr lang="en-IN"/>
            <a:t>3. Backend Service</a:t>
          </a:r>
        </a:p>
      </dgm:t>
    </dgm:pt>
    <dgm:pt modelId="{973F133A-A1B1-4791-926D-C7FA143F8A03}" type="parTrans" cxnId="{CD8A60D5-A932-4FBA-8F13-15238A62003F}">
      <dgm:prSet/>
      <dgm:spPr/>
      <dgm:t>
        <a:bodyPr/>
        <a:lstStyle/>
        <a:p>
          <a:endParaRPr lang="en-IN"/>
        </a:p>
      </dgm:t>
    </dgm:pt>
    <dgm:pt modelId="{91DDD39F-B6CF-402C-9205-6906B5C77745}" type="sibTrans" cxnId="{CD8A60D5-A932-4FBA-8F13-15238A62003F}">
      <dgm:prSet/>
      <dgm:spPr/>
      <dgm:t>
        <a:bodyPr/>
        <a:lstStyle/>
        <a:p>
          <a:endParaRPr lang="en-IN"/>
        </a:p>
      </dgm:t>
    </dgm:pt>
    <dgm:pt modelId="{C0B75CD6-A7B1-4CF5-96A9-76FD1A4A84F3}">
      <dgm:prSet/>
      <dgm:spPr>
        <a:solidFill>
          <a:srgbClr val="38415A"/>
        </a:solidFill>
      </dgm:spPr>
      <dgm:t>
        <a:bodyPr/>
        <a:lstStyle/>
        <a:p>
          <a:r>
            <a:rPr lang="en-US" dirty="0"/>
            <a:t>Backend Service handles the logic, business rules, and data access.</a:t>
          </a:r>
          <a:endParaRPr lang="en-IN" dirty="0"/>
        </a:p>
      </dgm:t>
    </dgm:pt>
    <dgm:pt modelId="{EBF1806A-03C4-4F7C-B6C4-7401FD4E7983}" type="parTrans" cxnId="{E39B341A-A8F2-41A0-B7D0-B0305C3DBA57}">
      <dgm:prSet/>
      <dgm:spPr/>
      <dgm:t>
        <a:bodyPr/>
        <a:lstStyle/>
        <a:p>
          <a:endParaRPr lang="en-IN"/>
        </a:p>
      </dgm:t>
    </dgm:pt>
    <dgm:pt modelId="{29F03502-E7E0-4625-8A1A-1603E6CF120F}" type="sibTrans" cxnId="{E39B341A-A8F2-41A0-B7D0-B0305C3DBA57}">
      <dgm:prSet/>
      <dgm:spPr/>
      <dgm:t>
        <a:bodyPr/>
        <a:lstStyle/>
        <a:p>
          <a:endParaRPr lang="en-IN"/>
        </a:p>
      </dgm:t>
    </dgm:pt>
    <dgm:pt modelId="{39ABA772-20B6-4091-9BDA-849A990AE57B}">
      <dgm:prSet/>
      <dgm:spPr>
        <a:solidFill>
          <a:srgbClr val="38415A"/>
        </a:solidFill>
      </dgm:spPr>
      <dgm:t>
        <a:bodyPr/>
        <a:lstStyle/>
        <a:p>
          <a:r>
            <a:rPr lang="en-US"/>
            <a:t>4. Cloud Database</a:t>
          </a:r>
          <a:endParaRPr lang="en-IN"/>
        </a:p>
      </dgm:t>
    </dgm:pt>
    <dgm:pt modelId="{6DEB8C1B-9978-462A-9FC0-9CB6D775EAB8}" type="parTrans" cxnId="{77A80791-9931-4C9A-979B-4807540B2E2D}">
      <dgm:prSet/>
      <dgm:spPr/>
      <dgm:t>
        <a:bodyPr/>
        <a:lstStyle/>
        <a:p>
          <a:endParaRPr lang="en-IN"/>
        </a:p>
      </dgm:t>
    </dgm:pt>
    <dgm:pt modelId="{EFCC5EFB-80D3-454C-AAA3-A969F7C7F576}" type="sibTrans" cxnId="{77A80791-9931-4C9A-979B-4807540B2E2D}">
      <dgm:prSet/>
      <dgm:spPr/>
      <dgm:t>
        <a:bodyPr/>
        <a:lstStyle/>
        <a:p>
          <a:endParaRPr lang="en-IN"/>
        </a:p>
      </dgm:t>
    </dgm:pt>
    <dgm:pt modelId="{3543F38A-BD7D-472D-9BA8-84325F52D7CC}">
      <dgm:prSet/>
      <dgm:spPr>
        <a:solidFill>
          <a:srgbClr val="38415A"/>
        </a:solidFill>
      </dgm:spPr>
      <dgm:t>
        <a:bodyPr/>
        <a:lstStyle/>
        <a:p>
          <a:r>
            <a:rPr lang="en-US"/>
            <a:t>Cloud Database stores, updates or retrieves the required data.</a:t>
          </a:r>
          <a:endParaRPr lang="en-IN"/>
        </a:p>
      </dgm:t>
    </dgm:pt>
    <dgm:pt modelId="{4876518F-F2C8-49BB-8168-1BDB842B91C4}" type="parTrans" cxnId="{B107E8E8-57B9-4EEE-BF86-054D22C8A555}">
      <dgm:prSet/>
      <dgm:spPr/>
      <dgm:t>
        <a:bodyPr/>
        <a:lstStyle/>
        <a:p>
          <a:endParaRPr lang="en-IN"/>
        </a:p>
      </dgm:t>
    </dgm:pt>
    <dgm:pt modelId="{776ADE12-92B9-4267-8E25-F3C9727A5830}" type="sibTrans" cxnId="{B107E8E8-57B9-4EEE-BF86-054D22C8A555}">
      <dgm:prSet/>
      <dgm:spPr/>
      <dgm:t>
        <a:bodyPr/>
        <a:lstStyle/>
        <a:p>
          <a:endParaRPr lang="en-IN"/>
        </a:p>
      </dgm:t>
    </dgm:pt>
    <dgm:pt modelId="{86D16ADB-0EA9-4045-A9C6-9F8DE739A757}" type="pres">
      <dgm:prSet presAssocID="{D65CFEA3-7ED2-4CC7-ADC0-E5D4AD570F7E}" presName="linearFlow" presStyleCnt="0">
        <dgm:presLayoutVars>
          <dgm:dir/>
          <dgm:resizeHandles val="exact"/>
        </dgm:presLayoutVars>
      </dgm:prSet>
      <dgm:spPr/>
    </dgm:pt>
    <dgm:pt modelId="{4693CB8C-2A20-401D-B56F-3AE53084D41E}" type="pres">
      <dgm:prSet presAssocID="{BE6EBDFA-95AC-4CAC-B5E5-DF370015CA29}" presName="composite" presStyleCnt="0"/>
      <dgm:spPr/>
    </dgm:pt>
    <dgm:pt modelId="{B11DE46E-E50E-4CA9-B108-97D104B0AEC0}" type="pres">
      <dgm:prSet presAssocID="{BE6EBDFA-95AC-4CAC-B5E5-DF370015CA29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BA11045A-B866-4486-BFD1-4F276BBB3801}" type="pres">
      <dgm:prSet presAssocID="{BE6EBDFA-95AC-4CAC-B5E5-DF370015CA29}" presName="txShp" presStyleLbl="node1" presStyleIdx="0" presStyleCnt="4">
        <dgm:presLayoutVars>
          <dgm:bulletEnabled val="1"/>
        </dgm:presLayoutVars>
      </dgm:prSet>
      <dgm:spPr/>
    </dgm:pt>
    <dgm:pt modelId="{CEA6F08F-A6D7-4004-AFE7-4D73F3BA69AF}" type="pres">
      <dgm:prSet presAssocID="{FE306AB0-BBA4-442D-9AB0-FA36EBA17753}" presName="spacing" presStyleCnt="0"/>
      <dgm:spPr/>
    </dgm:pt>
    <dgm:pt modelId="{F31B4D80-FF1B-4964-AEC3-3337E30708F1}" type="pres">
      <dgm:prSet presAssocID="{B4D6FB11-E566-42FD-A11F-602EAA63B77C}" presName="composite" presStyleCnt="0"/>
      <dgm:spPr/>
    </dgm:pt>
    <dgm:pt modelId="{C5DE13B9-9C98-415B-BD76-F5904E35750C}" type="pres">
      <dgm:prSet presAssocID="{B4D6FB11-E566-42FD-A11F-602EAA63B77C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8ACE98F8-77CD-4D9B-A588-EECDBF9FC4B2}" type="pres">
      <dgm:prSet presAssocID="{B4D6FB11-E566-42FD-A11F-602EAA63B77C}" presName="txShp" presStyleLbl="node1" presStyleIdx="1" presStyleCnt="4">
        <dgm:presLayoutVars>
          <dgm:bulletEnabled val="1"/>
        </dgm:presLayoutVars>
      </dgm:prSet>
      <dgm:spPr/>
    </dgm:pt>
    <dgm:pt modelId="{B32E77E3-A3E9-4C51-9692-A614C1D35992}" type="pres">
      <dgm:prSet presAssocID="{5493667E-D875-4480-BC38-874BF87380DF}" presName="spacing" presStyleCnt="0"/>
      <dgm:spPr/>
    </dgm:pt>
    <dgm:pt modelId="{95CC6703-FCDB-4891-AC37-2E3B34B8470F}" type="pres">
      <dgm:prSet presAssocID="{B41A932F-20F9-4A05-8484-66FDB3F135F1}" presName="composite" presStyleCnt="0"/>
      <dgm:spPr/>
    </dgm:pt>
    <dgm:pt modelId="{4A822659-843C-4F54-9A17-2DA0BCD239B7}" type="pres">
      <dgm:prSet presAssocID="{B41A932F-20F9-4A05-8484-66FDB3F135F1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 l="-3000" r="-3000"/>
          </a:stretch>
        </a:blipFill>
      </dgm:spPr>
    </dgm:pt>
    <dgm:pt modelId="{2E2F0541-8E77-4B9D-A74A-4AA9A592F418}" type="pres">
      <dgm:prSet presAssocID="{B41A932F-20F9-4A05-8484-66FDB3F135F1}" presName="txShp" presStyleLbl="node1" presStyleIdx="2" presStyleCnt="4">
        <dgm:presLayoutVars>
          <dgm:bulletEnabled val="1"/>
        </dgm:presLayoutVars>
      </dgm:prSet>
      <dgm:spPr/>
    </dgm:pt>
    <dgm:pt modelId="{1B24AEA2-D2D9-4E68-8C22-3E75F2C96832}" type="pres">
      <dgm:prSet presAssocID="{91DDD39F-B6CF-402C-9205-6906B5C77745}" presName="spacing" presStyleCnt="0"/>
      <dgm:spPr/>
    </dgm:pt>
    <dgm:pt modelId="{D7E202F7-7078-484B-A730-FD5151D2CBCB}" type="pres">
      <dgm:prSet presAssocID="{39ABA772-20B6-4091-9BDA-849A990AE57B}" presName="composite" presStyleCnt="0"/>
      <dgm:spPr/>
    </dgm:pt>
    <dgm:pt modelId="{EC2D18DB-4D82-4682-B23D-7510E7E08D34}" type="pres">
      <dgm:prSet presAssocID="{39ABA772-20B6-4091-9BDA-849A990AE57B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950FF24D-CCF7-44E0-940E-EB27906FECED}" type="pres">
      <dgm:prSet presAssocID="{39ABA772-20B6-4091-9BDA-849A990AE57B}" presName="txShp" presStyleLbl="node1" presStyleIdx="3" presStyleCnt="4">
        <dgm:presLayoutVars>
          <dgm:bulletEnabled val="1"/>
        </dgm:presLayoutVars>
      </dgm:prSet>
      <dgm:spPr/>
    </dgm:pt>
  </dgm:ptLst>
  <dgm:cxnLst>
    <dgm:cxn modelId="{1BEE5A05-E2E7-4F84-A9BB-4BFFA0D5597F}" srcId="{D65CFEA3-7ED2-4CC7-ADC0-E5D4AD570F7E}" destId="{B4D6FB11-E566-42FD-A11F-602EAA63B77C}" srcOrd="1" destOrd="0" parTransId="{7A297B94-3753-4206-B0B5-ED4A4492F46E}" sibTransId="{5493667E-D875-4480-BC38-874BF87380DF}"/>
    <dgm:cxn modelId="{E3155416-67A9-408B-85B1-A342AF4904ED}" type="presOf" srcId="{BE6EBDFA-95AC-4CAC-B5E5-DF370015CA29}" destId="{BA11045A-B866-4486-BFD1-4F276BBB3801}" srcOrd="0" destOrd="0" presId="urn:microsoft.com/office/officeart/2005/8/layout/vList3"/>
    <dgm:cxn modelId="{E39B341A-A8F2-41A0-B7D0-B0305C3DBA57}" srcId="{B41A932F-20F9-4A05-8484-66FDB3F135F1}" destId="{C0B75CD6-A7B1-4CF5-96A9-76FD1A4A84F3}" srcOrd="0" destOrd="0" parTransId="{EBF1806A-03C4-4F7C-B6C4-7401FD4E7983}" sibTransId="{29F03502-E7E0-4625-8A1A-1603E6CF120F}"/>
    <dgm:cxn modelId="{C474631A-D0A9-4086-ACAA-F6DDC184D48A}" type="presOf" srcId="{B41A932F-20F9-4A05-8484-66FDB3F135F1}" destId="{2E2F0541-8E77-4B9D-A74A-4AA9A592F418}" srcOrd="0" destOrd="0" presId="urn:microsoft.com/office/officeart/2005/8/layout/vList3"/>
    <dgm:cxn modelId="{73414120-F4CA-4397-AADE-9282317B66DE}" srcId="{B4D6FB11-E566-42FD-A11F-602EAA63B77C}" destId="{B34508F7-5794-4BF7-9468-13947573C4BF}" srcOrd="0" destOrd="0" parTransId="{EEC02860-A3F1-426B-86D5-E3676025B801}" sibTransId="{886EC02E-CF8A-475D-B90D-B17314FF40E6}"/>
    <dgm:cxn modelId="{EB3FEC3E-8086-4F96-9A64-A5223F4586E8}" type="presOf" srcId="{B4D6FB11-E566-42FD-A11F-602EAA63B77C}" destId="{8ACE98F8-77CD-4D9B-A588-EECDBF9FC4B2}" srcOrd="0" destOrd="0" presId="urn:microsoft.com/office/officeart/2005/8/layout/vList3"/>
    <dgm:cxn modelId="{6A29F85D-BDBC-4442-872D-3FB407D2671D}" type="presOf" srcId="{0E5B3CA6-9261-446B-8F5B-CB3AFA646A16}" destId="{BA11045A-B866-4486-BFD1-4F276BBB3801}" srcOrd="0" destOrd="1" presId="urn:microsoft.com/office/officeart/2005/8/layout/vList3"/>
    <dgm:cxn modelId="{95D87D5E-C6A2-4AFB-AB24-0B76D9F4770F}" srcId="{BE6EBDFA-95AC-4CAC-B5E5-DF370015CA29}" destId="{0E5B3CA6-9261-446B-8F5B-CB3AFA646A16}" srcOrd="0" destOrd="0" parTransId="{02DCBAED-3F81-4D46-831B-1D470FFD90F4}" sibTransId="{C3E16BAB-D12F-4FBD-8ADA-2B61AC4045B3}"/>
    <dgm:cxn modelId="{32EB3C48-564E-4DE4-B8F5-FB65DBAC1488}" type="presOf" srcId="{39ABA772-20B6-4091-9BDA-849A990AE57B}" destId="{950FF24D-CCF7-44E0-940E-EB27906FECED}" srcOrd="0" destOrd="0" presId="urn:microsoft.com/office/officeart/2005/8/layout/vList3"/>
    <dgm:cxn modelId="{376C816E-350B-4C44-9456-07B098899C3C}" type="presOf" srcId="{3543F38A-BD7D-472D-9BA8-84325F52D7CC}" destId="{950FF24D-CCF7-44E0-940E-EB27906FECED}" srcOrd="0" destOrd="1" presId="urn:microsoft.com/office/officeart/2005/8/layout/vList3"/>
    <dgm:cxn modelId="{77A80791-9931-4C9A-979B-4807540B2E2D}" srcId="{D65CFEA3-7ED2-4CC7-ADC0-E5D4AD570F7E}" destId="{39ABA772-20B6-4091-9BDA-849A990AE57B}" srcOrd="3" destOrd="0" parTransId="{6DEB8C1B-9978-462A-9FC0-9CB6D775EAB8}" sibTransId="{EFCC5EFB-80D3-454C-AAA3-A969F7C7F576}"/>
    <dgm:cxn modelId="{C157DBA1-85FE-4C44-8557-FC827B096C50}" type="presOf" srcId="{D65CFEA3-7ED2-4CC7-ADC0-E5D4AD570F7E}" destId="{86D16ADB-0EA9-4045-A9C6-9F8DE739A757}" srcOrd="0" destOrd="0" presId="urn:microsoft.com/office/officeart/2005/8/layout/vList3"/>
    <dgm:cxn modelId="{8C1F58AD-D082-4557-BEEB-3FE87E1ABD1A}" srcId="{D65CFEA3-7ED2-4CC7-ADC0-E5D4AD570F7E}" destId="{BE6EBDFA-95AC-4CAC-B5E5-DF370015CA29}" srcOrd="0" destOrd="0" parTransId="{1065AADF-835C-4F0A-A4BA-A49FE9AE4A45}" sibTransId="{FE306AB0-BBA4-442D-9AB0-FA36EBA17753}"/>
    <dgm:cxn modelId="{05D541BE-305D-48A7-8BF8-2F3FA50E197A}" type="presOf" srcId="{C0B75CD6-A7B1-4CF5-96A9-76FD1A4A84F3}" destId="{2E2F0541-8E77-4B9D-A74A-4AA9A592F418}" srcOrd="0" destOrd="1" presId="urn:microsoft.com/office/officeart/2005/8/layout/vList3"/>
    <dgm:cxn modelId="{CD8A60D5-A932-4FBA-8F13-15238A62003F}" srcId="{D65CFEA3-7ED2-4CC7-ADC0-E5D4AD570F7E}" destId="{B41A932F-20F9-4A05-8484-66FDB3F135F1}" srcOrd="2" destOrd="0" parTransId="{973F133A-A1B1-4791-926D-C7FA143F8A03}" sibTransId="{91DDD39F-B6CF-402C-9205-6906B5C77745}"/>
    <dgm:cxn modelId="{B107E8E8-57B9-4EEE-BF86-054D22C8A555}" srcId="{39ABA772-20B6-4091-9BDA-849A990AE57B}" destId="{3543F38A-BD7D-472D-9BA8-84325F52D7CC}" srcOrd="0" destOrd="0" parTransId="{4876518F-F2C8-49BB-8168-1BDB842B91C4}" sibTransId="{776ADE12-92B9-4267-8E25-F3C9727A5830}"/>
    <dgm:cxn modelId="{EF6D2CF1-C042-400D-80B5-626E4E7BC4C1}" type="presOf" srcId="{B34508F7-5794-4BF7-9468-13947573C4BF}" destId="{8ACE98F8-77CD-4D9B-A588-EECDBF9FC4B2}" srcOrd="0" destOrd="1" presId="urn:microsoft.com/office/officeart/2005/8/layout/vList3"/>
    <dgm:cxn modelId="{B0D14E8E-E04C-419B-A8DB-98C751E6F3AC}" type="presParOf" srcId="{86D16ADB-0EA9-4045-A9C6-9F8DE739A757}" destId="{4693CB8C-2A20-401D-B56F-3AE53084D41E}" srcOrd="0" destOrd="0" presId="urn:microsoft.com/office/officeart/2005/8/layout/vList3"/>
    <dgm:cxn modelId="{1DE7A07E-0E7D-4D6B-AF1D-D6C9809974E4}" type="presParOf" srcId="{4693CB8C-2A20-401D-B56F-3AE53084D41E}" destId="{B11DE46E-E50E-4CA9-B108-97D104B0AEC0}" srcOrd="0" destOrd="0" presId="urn:microsoft.com/office/officeart/2005/8/layout/vList3"/>
    <dgm:cxn modelId="{6A72C2D7-4E08-4600-81FC-401BAA7C6027}" type="presParOf" srcId="{4693CB8C-2A20-401D-B56F-3AE53084D41E}" destId="{BA11045A-B866-4486-BFD1-4F276BBB3801}" srcOrd="1" destOrd="0" presId="urn:microsoft.com/office/officeart/2005/8/layout/vList3"/>
    <dgm:cxn modelId="{0C8D4A18-3BD3-473B-ACA8-D819306CEE0D}" type="presParOf" srcId="{86D16ADB-0EA9-4045-A9C6-9F8DE739A757}" destId="{CEA6F08F-A6D7-4004-AFE7-4D73F3BA69AF}" srcOrd="1" destOrd="0" presId="urn:microsoft.com/office/officeart/2005/8/layout/vList3"/>
    <dgm:cxn modelId="{F17E983C-64C6-48DD-8188-C9A6DC3FE96D}" type="presParOf" srcId="{86D16ADB-0EA9-4045-A9C6-9F8DE739A757}" destId="{F31B4D80-FF1B-4964-AEC3-3337E30708F1}" srcOrd="2" destOrd="0" presId="urn:microsoft.com/office/officeart/2005/8/layout/vList3"/>
    <dgm:cxn modelId="{A742D237-B43E-40DF-B7F9-FBA2645DD144}" type="presParOf" srcId="{F31B4D80-FF1B-4964-AEC3-3337E30708F1}" destId="{C5DE13B9-9C98-415B-BD76-F5904E35750C}" srcOrd="0" destOrd="0" presId="urn:microsoft.com/office/officeart/2005/8/layout/vList3"/>
    <dgm:cxn modelId="{9110E038-AE16-4F5B-9B7B-B49CCC2D495D}" type="presParOf" srcId="{F31B4D80-FF1B-4964-AEC3-3337E30708F1}" destId="{8ACE98F8-77CD-4D9B-A588-EECDBF9FC4B2}" srcOrd="1" destOrd="0" presId="urn:microsoft.com/office/officeart/2005/8/layout/vList3"/>
    <dgm:cxn modelId="{CB11368E-E0E7-4602-AB27-6EE63FFD5121}" type="presParOf" srcId="{86D16ADB-0EA9-4045-A9C6-9F8DE739A757}" destId="{B32E77E3-A3E9-4C51-9692-A614C1D35992}" srcOrd="3" destOrd="0" presId="urn:microsoft.com/office/officeart/2005/8/layout/vList3"/>
    <dgm:cxn modelId="{2BEDA4C4-83C4-4DBD-8999-6031F6DEEBE9}" type="presParOf" srcId="{86D16ADB-0EA9-4045-A9C6-9F8DE739A757}" destId="{95CC6703-FCDB-4891-AC37-2E3B34B8470F}" srcOrd="4" destOrd="0" presId="urn:microsoft.com/office/officeart/2005/8/layout/vList3"/>
    <dgm:cxn modelId="{F7C8E62E-72F4-47B2-89AD-A9017CA5511C}" type="presParOf" srcId="{95CC6703-FCDB-4891-AC37-2E3B34B8470F}" destId="{4A822659-843C-4F54-9A17-2DA0BCD239B7}" srcOrd="0" destOrd="0" presId="urn:microsoft.com/office/officeart/2005/8/layout/vList3"/>
    <dgm:cxn modelId="{A5D876F7-E4F8-4F55-BD56-C6FA1EAA7709}" type="presParOf" srcId="{95CC6703-FCDB-4891-AC37-2E3B34B8470F}" destId="{2E2F0541-8E77-4B9D-A74A-4AA9A592F418}" srcOrd="1" destOrd="0" presId="urn:microsoft.com/office/officeart/2005/8/layout/vList3"/>
    <dgm:cxn modelId="{7D3CC906-15B5-401F-9FEB-685EDBC030C0}" type="presParOf" srcId="{86D16ADB-0EA9-4045-A9C6-9F8DE739A757}" destId="{1B24AEA2-D2D9-4E68-8C22-3E75F2C96832}" srcOrd="5" destOrd="0" presId="urn:microsoft.com/office/officeart/2005/8/layout/vList3"/>
    <dgm:cxn modelId="{07F2B966-CF19-46CF-B94A-212DD929B777}" type="presParOf" srcId="{86D16ADB-0EA9-4045-A9C6-9F8DE739A757}" destId="{D7E202F7-7078-484B-A730-FD5151D2CBCB}" srcOrd="6" destOrd="0" presId="urn:microsoft.com/office/officeart/2005/8/layout/vList3"/>
    <dgm:cxn modelId="{B11E4F48-DCEB-4479-ABBA-503F9B5BCBAC}" type="presParOf" srcId="{D7E202F7-7078-484B-A730-FD5151D2CBCB}" destId="{EC2D18DB-4D82-4682-B23D-7510E7E08D34}" srcOrd="0" destOrd="0" presId="urn:microsoft.com/office/officeart/2005/8/layout/vList3"/>
    <dgm:cxn modelId="{2F91C04B-05DC-4626-8EF7-60CDF2111CFB}" type="presParOf" srcId="{D7E202F7-7078-484B-A730-FD5151D2CBCB}" destId="{950FF24D-CCF7-44E0-940E-EB27906FECE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1045A-B866-4486-BFD1-4F276BBB3801}">
      <dsp:nvSpPr>
        <dsp:cNvPr id="0" name=""/>
        <dsp:cNvSpPr/>
      </dsp:nvSpPr>
      <dsp:spPr>
        <a:xfrm rot="10800000">
          <a:off x="1651318" y="1748"/>
          <a:ext cx="4967314" cy="1600612"/>
        </a:xfrm>
        <a:prstGeom prst="homePlate">
          <a:avLst/>
        </a:prstGeom>
        <a:solidFill>
          <a:srgbClr val="38415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5826" tIns="99060" rIns="184912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1. User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User clicks on the interface, enters data, or requests an action.</a:t>
          </a:r>
          <a:endParaRPr lang="en-IN" sz="2000" kern="1200" dirty="0"/>
        </a:p>
      </dsp:txBody>
      <dsp:txXfrm rot="10800000">
        <a:off x="2051471" y="1748"/>
        <a:ext cx="4567161" cy="1600612"/>
      </dsp:txXfrm>
    </dsp:sp>
    <dsp:sp modelId="{B11DE46E-E50E-4CA9-B108-97D104B0AEC0}">
      <dsp:nvSpPr>
        <dsp:cNvPr id="0" name=""/>
        <dsp:cNvSpPr/>
      </dsp:nvSpPr>
      <dsp:spPr>
        <a:xfrm>
          <a:off x="851012" y="1748"/>
          <a:ext cx="1600612" cy="1600612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E98F8-77CD-4D9B-A588-EECDBF9FC4B2}">
      <dsp:nvSpPr>
        <dsp:cNvPr id="0" name=""/>
        <dsp:cNvSpPr/>
      </dsp:nvSpPr>
      <dsp:spPr>
        <a:xfrm rot="10800000">
          <a:off x="1651318" y="2080155"/>
          <a:ext cx="4967314" cy="1600612"/>
        </a:xfrm>
        <a:prstGeom prst="homePlate">
          <a:avLst/>
        </a:prstGeom>
        <a:solidFill>
          <a:srgbClr val="38415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5826" tIns="99060" rIns="184912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Web App</a:t>
          </a:r>
          <a:endParaRPr lang="en-IN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Web App Request: -Web App processes the user's input and initiates a request.</a:t>
          </a:r>
          <a:r>
            <a:rPr lang="en-IN" sz="2000" kern="1200" dirty="0"/>
            <a:t>	</a:t>
          </a:r>
        </a:p>
      </dsp:txBody>
      <dsp:txXfrm rot="10800000">
        <a:off x="2051471" y="2080155"/>
        <a:ext cx="4567161" cy="1600612"/>
      </dsp:txXfrm>
    </dsp:sp>
    <dsp:sp modelId="{C5DE13B9-9C98-415B-BD76-F5904E35750C}">
      <dsp:nvSpPr>
        <dsp:cNvPr id="0" name=""/>
        <dsp:cNvSpPr/>
      </dsp:nvSpPr>
      <dsp:spPr>
        <a:xfrm>
          <a:off x="851012" y="2080155"/>
          <a:ext cx="1600612" cy="1600612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F0541-8E77-4B9D-A74A-4AA9A592F418}">
      <dsp:nvSpPr>
        <dsp:cNvPr id="0" name=""/>
        <dsp:cNvSpPr/>
      </dsp:nvSpPr>
      <dsp:spPr>
        <a:xfrm rot="10800000">
          <a:off x="1651318" y="4158562"/>
          <a:ext cx="4967314" cy="1600612"/>
        </a:xfrm>
        <a:prstGeom prst="homePlate">
          <a:avLst/>
        </a:prstGeom>
        <a:solidFill>
          <a:srgbClr val="38415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5826" tIns="99060" rIns="184912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3. Backend Service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Backend Service handles the logic, business rules, and data access.</a:t>
          </a:r>
          <a:endParaRPr lang="en-IN" sz="2000" kern="1200" dirty="0"/>
        </a:p>
      </dsp:txBody>
      <dsp:txXfrm rot="10800000">
        <a:off x="2051471" y="4158562"/>
        <a:ext cx="4567161" cy="1600612"/>
      </dsp:txXfrm>
    </dsp:sp>
    <dsp:sp modelId="{4A822659-843C-4F54-9A17-2DA0BCD239B7}">
      <dsp:nvSpPr>
        <dsp:cNvPr id="0" name=""/>
        <dsp:cNvSpPr/>
      </dsp:nvSpPr>
      <dsp:spPr>
        <a:xfrm>
          <a:off x="851012" y="4158562"/>
          <a:ext cx="1600612" cy="1600612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FF24D-CCF7-44E0-940E-EB27906FECED}">
      <dsp:nvSpPr>
        <dsp:cNvPr id="0" name=""/>
        <dsp:cNvSpPr/>
      </dsp:nvSpPr>
      <dsp:spPr>
        <a:xfrm rot="10800000">
          <a:off x="1651318" y="6236969"/>
          <a:ext cx="4967314" cy="1600612"/>
        </a:xfrm>
        <a:prstGeom prst="homePlate">
          <a:avLst/>
        </a:prstGeom>
        <a:solidFill>
          <a:srgbClr val="38415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5826" tIns="99060" rIns="184912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Cloud Database</a:t>
          </a:r>
          <a:endParaRPr lang="en-IN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Cloud Database stores, updates or retrieves the required data.</a:t>
          </a:r>
          <a:endParaRPr lang="en-IN" sz="2000" kern="1200"/>
        </a:p>
      </dsp:txBody>
      <dsp:txXfrm rot="10800000">
        <a:off x="2051471" y="6236969"/>
        <a:ext cx="4567161" cy="1600612"/>
      </dsp:txXfrm>
    </dsp:sp>
    <dsp:sp modelId="{EC2D18DB-4D82-4682-B23D-7510E7E08D34}">
      <dsp:nvSpPr>
        <dsp:cNvPr id="0" name=""/>
        <dsp:cNvSpPr/>
      </dsp:nvSpPr>
      <dsp:spPr>
        <a:xfrm>
          <a:off x="851012" y="6236969"/>
          <a:ext cx="1600612" cy="1600612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781" y="76576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619" y="874395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01900" y="-139509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333810" y="-1543050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4891" y="2363359"/>
            <a:ext cx="15575019" cy="347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2"/>
              </a:lnSpc>
            </a:pPr>
            <a:r>
              <a:rPr lang="en-US" sz="9944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Cloud-Based College Event Registration System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936188" y="1920463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048664" y="4832351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936074" y="8524075"/>
            <a:ext cx="6966330" cy="137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6"/>
              </a:lnSpc>
            </a:pP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By: </a:t>
            </a:r>
          </a:p>
          <a:p>
            <a:pPr algn="r">
              <a:lnSpc>
                <a:spcPts val="3586"/>
              </a:lnSpc>
            </a:pPr>
            <a:r>
              <a:rPr lang="en-US" sz="2562" b="1" dirty="0" err="1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Debankita</a:t>
            </a: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Biswas, KU Id.: KU2507U0798</a:t>
            </a:r>
          </a:p>
          <a:p>
            <a:pPr algn="r">
              <a:lnSpc>
                <a:spcPts val="3586"/>
              </a:lnSpc>
            </a:pP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Dhrumi Shah, KU Id.: KU2507U0140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1894" y="6501959"/>
            <a:ext cx="6624212" cy="146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1"/>
              </a:lnSpc>
            </a:pPr>
            <a:r>
              <a:rPr lang="en-US" sz="422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Capstone Project – Google Cloud Digital Leader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25505" y="541412"/>
            <a:ext cx="634952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9160" y="2541662"/>
            <a:ext cx="13527039" cy="287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web-based application for students to register for college events like Tech Fest, Cultural Events, and Workshops.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07632" lvl="1" indent="-253816" algn="l">
              <a:lnSpc>
                <a:spcPts val="3291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Provides a simple and user-friendly registration form.</a:t>
            </a:r>
          </a:p>
          <a:p>
            <a:pPr algn="l">
              <a:lnSpc>
                <a:spcPts val="3291"/>
              </a:lnSpc>
            </a:pPr>
            <a:endParaRPr lang="en-US" sz="2351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07632" lvl="1" indent="-253816" algn="l">
              <a:lnSpc>
                <a:spcPts val="3291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Stores data securely in the cloud.</a:t>
            </a:r>
          </a:p>
          <a:p>
            <a:pPr algn="l">
              <a:lnSpc>
                <a:spcPts val="3291"/>
              </a:lnSpc>
            </a:pPr>
            <a:endParaRPr lang="en-US" sz="2351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9160" y="7163283"/>
            <a:ext cx="12662210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build a cloud-native, scalable web application using Google Cloud Platform.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demonstrate serverless architecture and modern cloud concepts.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create a working local prototype and deploy it on cloud.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99523" y="5593999"/>
            <a:ext cx="5201484" cy="127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1"/>
              </a:lnSpc>
            </a:pPr>
            <a:r>
              <a:rPr lang="en-US" sz="7372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C565D2A-432E-92D2-CB08-44AB325A77F1}"/>
              </a:ext>
            </a:extLst>
          </p:cNvPr>
          <p:cNvSpPr txBox="1"/>
          <p:nvPr/>
        </p:nvSpPr>
        <p:spPr>
          <a:xfrm>
            <a:off x="18774154" y="-2474159"/>
            <a:ext cx="6624212" cy="1464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1"/>
              </a:lnSpc>
            </a:pPr>
            <a:r>
              <a:rPr lang="en-US" sz="422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Capstone Project – Google Cloud Digital Leader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35B7F896-A797-DF4C-4756-2318FD65AB32}"/>
              </a:ext>
            </a:extLst>
          </p:cNvPr>
          <p:cNvSpPr txBox="1"/>
          <p:nvPr/>
        </p:nvSpPr>
        <p:spPr>
          <a:xfrm>
            <a:off x="22086260" y="13607321"/>
            <a:ext cx="15575019" cy="347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2"/>
              </a:lnSpc>
            </a:pPr>
            <a:r>
              <a:rPr lang="en-US" sz="9944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Cloud-Based College Event Registration System</a:t>
            </a: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82BB55E7-4512-32A1-DC77-3B9866274B58}"/>
              </a:ext>
            </a:extLst>
          </p:cNvPr>
          <p:cNvSpPr/>
          <p:nvPr/>
        </p:nvSpPr>
        <p:spPr>
          <a:xfrm>
            <a:off x="-9334948" y="-28661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B5D689A0-8C99-9995-BECB-41C2F1253428}"/>
              </a:ext>
            </a:extLst>
          </p:cNvPr>
          <p:cNvSpPr txBox="1"/>
          <p:nvPr/>
        </p:nvSpPr>
        <p:spPr>
          <a:xfrm>
            <a:off x="-8686800" y="13521538"/>
            <a:ext cx="6966330" cy="137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6"/>
              </a:lnSpc>
            </a:pP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By: </a:t>
            </a:r>
          </a:p>
          <a:p>
            <a:pPr algn="r">
              <a:lnSpc>
                <a:spcPts val="3586"/>
              </a:lnSpc>
            </a:pPr>
            <a:r>
              <a:rPr lang="en-US" sz="2562" b="1" dirty="0" err="1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Debankita</a:t>
            </a: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Biswas, KU Id.: KU2507U0798</a:t>
            </a:r>
          </a:p>
          <a:p>
            <a:pPr algn="r">
              <a:lnSpc>
                <a:spcPts val="3586"/>
              </a:lnSpc>
            </a:pPr>
            <a:r>
              <a:rPr lang="en-US" sz="2562" b="1" dirty="0">
                <a:solidFill>
                  <a:srgbClr val="3140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Dhrumi Shah, KU Id.: KU2507U0140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45795" y="1635124"/>
            <a:ext cx="8419053" cy="278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 of the 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86100" y="5067300"/>
            <a:ext cx="14364619" cy="407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543" lvl="1" indent="-356272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Student registration form with: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12543" lvl="1" indent="-356272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 stored in cloud database</a:t>
            </a:r>
          </a:p>
          <a:p>
            <a:pPr marL="712543" lvl="1" indent="-356272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Success message after registration</a:t>
            </a:r>
          </a:p>
          <a:p>
            <a:pPr marL="712543" lvl="1" indent="-356272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Publicly accessible via web URL (no login required)</a:t>
            </a:r>
          </a:p>
          <a:p>
            <a:pPr algn="just">
              <a:lnSpc>
                <a:spcPts val="4620"/>
              </a:lnSpc>
            </a:pPr>
            <a:endParaRPr lang="en-US" sz="330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4360005" y="5662154"/>
            <a:ext cx="14364619" cy="115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543" lvl="1" indent="-356271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Full Name</a:t>
            </a:r>
          </a:p>
          <a:p>
            <a:pPr marL="712543" lvl="1" indent="-356271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Event Name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1009650" y="4130888"/>
            <a:ext cx="0" cy="155533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7" name="TextBox 27"/>
          <p:cNvSpPr txBox="1"/>
          <p:nvPr/>
        </p:nvSpPr>
        <p:spPr>
          <a:xfrm>
            <a:off x="2766818" y="110526"/>
            <a:ext cx="10594616" cy="1333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Diagram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3669" y="3386449"/>
            <a:ext cx="1337760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Flow: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51385CF9-ED32-93DA-C46E-CA7D7402B2A4}"/>
              </a:ext>
            </a:extLst>
          </p:cNvPr>
          <p:cNvSpPr txBox="1"/>
          <p:nvPr/>
        </p:nvSpPr>
        <p:spPr>
          <a:xfrm>
            <a:off x="20116800" y="-2038703"/>
            <a:ext cx="10664070" cy="29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9"/>
              </a:lnSpc>
            </a:pPr>
            <a:r>
              <a:rPr lang="en-US" sz="8321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Google Cloud services used and justification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ED5A464A-F009-AB66-3311-91142A480EC8}"/>
              </a:ext>
            </a:extLst>
          </p:cNvPr>
          <p:cNvSpPr txBox="1"/>
          <p:nvPr/>
        </p:nvSpPr>
        <p:spPr>
          <a:xfrm>
            <a:off x="26974800" y="11620500"/>
            <a:ext cx="4522401" cy="258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0"/>
              </a:lnSpc>
            </a:pPr>
            <a:r>
              <a:rPr lang="en-US" sz="7386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Possible Services</a:t>
            </a:r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83AA637F-1CCA-EEA0-CDFC-BC7D1AF725CA}"/>
              </a:ext>
            </a:extLst>
          </p:cNvPr>
          <p:cNvSpPr/>
          <p:nvPr/>
        </p:nvSpPr>
        <p:spPr>
          <a:xfrm flipV="1">
            <a:off x="-3962400" y="10266946"/>
            <a:ext cx="0" cy="26444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AutoShape 15">
            <a:extLst>
              <a:ext uri="{FF2B5EF4-FFF2-40B4-BE49-F238E27FC236}">
                <a16:creationId xmlns:a16="http://schemas.microsoft.com/office/drawing/2014/main" id="{1DB841A8-52CA-05A9-C32D-52CFF6DCF5A6}"/>
              </a:ext>
            </a:extLst>
          </p:cNvPr>
          <p:cNvSpPr/>
          <p:nvPr/>
        </p:nvSpPr>
        <p:spPr>
          <a:xfrm flipV="1">
            <a:off x="22326600" y="4257753"/>
            <a:ext cx="0" cy="26444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F4793483-95BA-49BF-8ED5-BBB97221BF31}"/>
              </a:ext>
            </a:extLst>
          </p:cNvPr>
          <p:cNvSpPr txBox="1"/>
          <p:nvPr/>
        </p:nvSpPr>
        <p:spPr>
          <a:xfrm>
            <a:off x="-10330037" y="16036949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Hosting: Google Cloud Run (Serverless) – To host the Flask backend container without managing servers.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76414E1D-0B49-8199-E42B-0627EE061EB2}"/>
              </a:ext>
            </a:extLst>
          </p:cNvPr>
          <p:cNvSpPr txBox="1"/>
          <p:nvPr/>
        </p:nvSpPr>
        <p:spPr>
          <a:xfrm>
            <a:off x="-12102374" y="53340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Frontend Storage: Google Cloud Storage – To host the static HTML/CSS files for public access.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D2F488B9-80DF-6C36-2EE5-0690C9D88CB3}"/>
              </a:ext>
            </a:extLst>
          </p:cNvPr>
          <p:cNvSpPr txBox="1"/>
          <p:nvPr/>
        </p:nvSpPr>
        <p:spPr>
          <a:xfrm>
            <a:off x="14859000" y="16874452"/>
            <a:ext cx="959682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Database: Cloud SQL (MySQL) – A managed relational database service to store registration data securely.</a:t>
            </a: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66B93C18-3BB0-371E-2890-04A9FAB95015}"/>
              </a:ext>
            </a:extLst>
          </p:cNvPr>
          <p:cNvSpPr txBox="1"/>
          <p:nvPr/>
        </p:nvSpPr>
        <p:spPr>
          <a:xfrm>
            <a:off x="-3149966" y="-14129737"/>
            <a:ext cx="8822533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Asynchronous Processing: Cloud Pub/Sub – To loosely couple the system with future services like automated email notifications.</a:t>
            </a:r>
          </a:p>
        </p:txBody>
      </p:sp>
      <p:graphicFrame>
        <p:nvGraphicFramePr>
          <p:cNvPr id="49" name="Diagram 48">
            <a:extLst>
              <a:ext uri="{FF2B5EF4-FFF2-40B4-BE49-F238E27FC236}">
                <a16:creationId xmlns:a16="http://schemas.microsoft.com/office/drawing/2014/main" id="{7BF5CE90-3C77-A72E-D531-417BDACB2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841851"/>
              </p:ext>
            </p:extLst>
          </p:nvPr>
        </p:nvGraphicFramePr>
        <p:xfrm>
          <a:off x="4238984" y="2290323"/>
          <a:ext cx="7469646" cy="7839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27D14-E9BF-FB1C-CC18-5F8EF9B5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FB4146-1C73-1397-E0D8-F2B809DD06F7}"/>
              </a:ext>
            </a:extLst>
          </p:cNvPr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E1B69D-07B6-1C59-9A68-D2862FB98259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E37A76D-A234-34C0-D2F5-E5062E3AD6DC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85A7333-11C5-EC33-2D0A-FDED8D45717B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DB7EF21-CF31-0219-F17A-C5D5AC226509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83217C8-7728-3D33-CE44-779E01DF14C6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7EF3CC-3A82-3278-AF91-1883E57EA6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DB1EB6-D35E-2B77-EBBC-0867493D6E4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>
            <a:extLst>
              <a:ext uri="{FF2B5EF4-FFF2-40B4-BE49-F238E27FC236}">
                <a16:creationId xmlns:a16="http://schemas.microsoft.com/office/drawing/2014/main" id="{0B817F3D-5C31-646A-85E0-D42C727A92C3}"/>
              </a:ext>
            </a:extLst>
          </p:cNvPr>
          <p:cNvSpPr/>
          <p:nvPr/>
        </p:nvSpPr>
        <p:spPr>
          <a:xfrm flipV="1">
            <a:off x="1009650" y="4130888"/>
            <a:ext cx="0" cy="155533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64F74D6-8F2A-AD81-4225-8CAB7C46B4CF}"/>
              </a:ext>
            </a:extLst>
          </p:cNvPr>
          <p:cNvSpPr txBox="1"/>
          <p:nvPr/>
        </p:nvSpPr>
        <p:spPr>
          <a:xfrm>
            <a:off x="2051551" y="3218185"/>
            <a:ext cx="6601106" cy="96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Components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B9E6936-56D1-8C9E-CFCE-8B94A219A69D}"/>
              </a:ext>
            </a:extLst>
          </p:cNvPr>
          <p:cNvSpPr txBox="1"/>
          <p:nvPr/>
        </p:nvSpPr>
        <p:spPr>
          <a:xfrm>
            <a:off x="3737783" y="416540"/>
            <a:ext cx="9667164" cy="279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Diagram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1916409-276F-8F03-F579-18EFBB8832CE}"/>
              </a:ext>
            </a:extLst>
          </p:cNvPr>
          <p:cNvSpPr txBox="1"/>
          <p:nvPr/>
        </p:nvSpPr>
        <p:spPr>
          <a:xfrm>
            <a:off x="1639760" y="3485720"/>
            <a:ext cx="13589443" cy="246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endParaRPr lang="en-IN" dirty="0"/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Frontend: HTML5, CSS3 (with CSS-based tooltips), and JavaScript (Fetch API) for an interactive user experience.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Backend: Python-based Flask server serving as a RESTful API.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Database: MySQL relational database for persistent storage of participant details.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19A8054-E1B0-D5DF-75EE-D39AB6C2EA6F}"/>
              </a:ext>
            </a:extLst>
          </p:cNvPr>
          <p:cNvSpPr txBox="1"/>
          <p:nvPr/>
        </p:nvSpPr>
        <p:spPr>
          <a:xfrm>
            <a:off x="2051551" y="6350544"/>
            <a:ext cx="6601106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Explanation Points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E28EC90-B680-9A02-1B62-9A35E1BF3B84}"/>
              </a:ext>
            </a:extLst>
          </p:cNvPr>
          <p:cNvSpPr txBox="1"/>
          <p:nvPr/>
        </p:nvSpPr>
        <p:spPr>
          <a:xfrm>
            <a:off x="1625905" y="6779983"/>
            <a:ext cx="12527553" cy="396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endParaRPr dirty="0"/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User fills form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Request sent to backend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 stored in cloud database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Response (success message) sent back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756871D0-BD5D-8757-6797-B11314C8EE82}"/>
              </a:ext>
            </a:extLst>
          </p:cNvPr>
          <p:cNvSpPr txBox="1"/>
          <p:nvPr/>
        </p:nvSpPr>
        <p:spPr>
          <a:xfrm>
            <a:off x="20116800" y="-2038703"/>
            <a:ext cx="10664070" cy="29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9"/>
              </a:lnSpc>
            </a:pPr>
            <a:r>
              <a:rPr lang="en-US" sz="8321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Google Cloud services used and justification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3DC7493-06F4-583F-A0FB-A25C4161DA68}"/>
              </a:ext>
            </a:extLst>
          </p:cNvPr>
          <p:cNvSpPr txBox="1"/>
          <p:nvPr/>
        </p:nvSpPr>
        <p:spPr>
          <a:xfrm>
            <a:off x="26974800" y="11620500"/>
            <a:ext cx="4522401" cy="258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0"/>
              </a:lnSpc>
            </a:pPr>
            <a:r>
              <a:rPr lang="en-US" sz="7386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Possible Services</a:t>
            </a:r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C228E78F-3E00-B71B-32F5-191CC16288D9}"/>
              </a:ext>
            </a:extLst>
          </p:cNvPr>
          <p:cNvSpPr/>
          <p:nvPr/>
        </p:nvSpPr>
        <p:spPr>
          <a:xfrm flipV="1">
            <a:off x="-3962400" y="10266946"/>
            <a:ext cx="0" cy="26444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AutoShape 15">
            <a:extLst>
              <a:ext uri="{FF2B5EF4-FFF2-40B4-BE49-F238E27FC236}">
                <a16:creationId xmlns:a16="http://schemas.microsoft.com/office/drawing/2014/main" id="{261A8A61-6CB9-95F9-1E41-3F0D1203943D}"/>
              </a:ext>
            </a:extLst>
          </p:cNvPr>
          <p:cNvSpPr/>
          <p:nvPr/>
        </p:nvSpPr>
        <p:spPr>
          <a:xfrm flipV="1">
            <a:off x="22326600" y="4257753"/>
            <a:ext cx="0" cy="26444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BB1377EE-DBB1-5DF5-A82C-3BC45C3FA338}"/>
              </a:ext>
            </a:extLst>
          </p:cNvPr>
          <p:cNvSpPr txBox="1"/>
          <p:nvPr/>
        </p:nvSpPr>
        <p:spPr>
          <a:xfrm>
            <a:off x="-10330037" y="16036949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Hosting: Google Cloud Run (Serverless) – To host the Flask backend container without managing servers.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E0A52DE5-21BE-5B6F-713B-BAEF4BBAD1A0}"/>
              </a:ext>
            </a:extLst>
          </p:cNvPr>
          <p:cNvSpPr txBox="1"/>
          <p:nvPr/>
        </p:nvSpPr>
        <p:spPr>
          <a:xfrm>
            <a:off x="-12102374" y="53340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Frontend Storage: Google Cloud Storage – To host the static HTML/CSS files for public access.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813903D5-D414-9904-83C3-CC079C84CF01}"/>
              </a:ext>
            </a:extLst>
          </p:cNvPr>
          <p:cNvSpPr txBox="1"/>
          <p:nvPr/>
        </p:nvSpPr>
        <p:spPr>
          <a:xfrm>
            <a:off x="14859000" y="16874452"/>
            <a:ext cx="959682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Database: Cloud SQL (MySQL) – A managed relational database service to store registration data securely.</a:t>
            </a: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8654B7CB-E886-C3AE-C295-2E7E2F6BD953}"/>
              </a:ext>
            </a:extLst>
          </p:cNvPr>
          <p:cNvSpPr txBox="1"/>
          <p:nvPr/>
        </p:nvSpPr>
        <p:spPr>
          <a:xfrm>
            <a:off x="-3149966" y="-14129737"/>
            <a:ext cx="8822533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Asynchronous Processing: Cloud Pub/Sub – To loosely couple the system with future services like automated email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648489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95406" y="-3621405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13063" y="4133711"/>
            <a:ext cx="4522401" cy="258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0"/>
              </a:lnSpc>
            </a:pPr>
            <a:r>
              <a:rPr lang="en-US" sz="7386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Possible Services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2873" y="3029585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Hosting: Google Cloud Run (Serverless) – To host the Flask backend container without managing servers.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2873" y="6422390"/>
            <a:ext cx="8822533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Asynchronous Processing: Cloud Pub/Sub – To loosely couple the system with future services like automated email notifications.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860273" y="3502660"/>
            <a:ext cx="0" cy="23266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4" name="TextBox 14"/>
          <p:cNvSpPr txBox="1"/>
          <p:nvPr/>
        </p:nvSpPr>
        <p:spPr>
          <a:xfrm>
            <a:off x="3811965" y="-2314"/>
            <a:ext cx="10664070" cy="29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9"/>
              </a:lnSpc>
            </a:pPr>
            <a:r>
              <a:rPr lang="en-US" sz="8321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Google Cloud services used and justification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860273" y="4599612"/>
            <a:ext cx="0" cy="26444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6" name="TextBox 16"/>
          <p:cNvSpPr txBox="1"/>
          <p:nvPr/>
        </p:nvSpPr>
        <p:spPr>
          <a:xfrm>
            <a:off x="7312873" y="4126230"/>
            <a:ext cx="8822533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Frontend Storage: Google Cloud Storage – To host the static HTML/CSS files for public access.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2873" y="5274310"/>
            <a:ext cx="959682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Database: Cloud SQL (MySQL) – A managed relational database service to store registration data securely.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74263" y="8141356"/>
            <a:ext cx="8822533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Serverless → No server management required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Scalable → Handles multiple users automatically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Reliable → High availability and fault tolerance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Easy integration with future services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69160" y="8735261"/>
            <a:ext cx="4154592" cy="931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9"/>
              </a:lnSpc>
            </a:pPr>
            <a:r>
              <a:rPr lang="en-US" sz="5364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Justification</a:t>
            </a:r>
          </a:p>
        </p:txBody>
      </p:sp>
      <p:sp>
        <p:nvSpPr>
          <p:cNvPr id="20" name="AutoShape 20"/>
          <p:cNvSpPr/>
          <p:nvPr/>
        </p:nvSpPr>
        <p:spPr>
          <a:xfrm flipH="1">
            <a:off x="0" y="8018145"/>
            <a:ext cx="155533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35545" y="894414"/>
            <a:ext cx="11459213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All the used Libraries</a:t>
            </a: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93941" y="735188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 flipV="1">
            <a:off x="3430852" y="958215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2822392" y="2675589"/>
            <a:ext cx="14830576" cy="644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Flask: 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Flask-CORS: 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pymysql</a:t>
            </a: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qrcode</a:t>
            </a: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io (built-in): Handles in-memory file operations (like QR images)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base64 (built-in): Encodes QR images for sending via API or embedding in HTML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os</a:t>
            </a: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(built-in): Used for file handling and system operations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FPDF: Generates PDF files (e.g., registration confirmation/ticket)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153615" y="2675589"/>
            <a:ext cx="14830576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Used to build the backend web application (API handling)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Handles HTTP requests (GET/POST)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169281" y="3657047"/>
            <a:ext cx="14783121" cy="148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585" lvl="1" indent="-301293" algn="just">
              <a:lnSpc>
                <a:spcPts val="3907"/>
              </a:lnSpc>
              <a:buFont typeface="Arial"/>
              <a:buChar char="•"/>
            </a:pPr>
            <a:r>
              <a:rPr lang="en-US" sz="2791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Enables communication between frontend and backend</a:t>
            </a:r>
          </a:p>
          <a:p>
            <a:pPr marL="602585" lvl="1" indent="-301293" algn="just">
              <a:lnSpc>
                <a:spcPts val="3907"/>
              </a:lnSpc>
              <a:buFont typeface="Arial"/>
              <a:buChar char="•"/>
            </a:pPr>
            <a:r>
              <a:rPr lang="en-US" sz="2791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Prevents cross-origin request issues</a:t>
            </a:r>
          </a:p>
          <a:p>
            <a:pPr algn="just">
              <a:lnSpc>
                <a:spcPts val="3907"/>
              </a:lnSpc>
            </a:pPr>
            <a:endParaRPr lang="en-US" sz="2791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476676" y="5712367"/>
            <a:ext cx="14128731" cy="14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911" lvl="1" indent="-287956" algn="just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Generates QR codes for event registration</a:t>
            </a:r>
          </a:p>
          <a:p>
            <a:pPr marL="575911" lvl="1" indent="-287956" algn="just">
              <a:lnSpc>
                <a:spcPts val="3734"/>
              </a:lnSpc>
              <a:buFont typeface="Arial"/>
              <a:buChar char="•"/>
            </a:pPr>
            <a:r>
              <a:rPr lang="en-US" sz="2667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Can be used for entry validation or ticketing</a:t>
            </a:r>
          </a:p>
          <a:p>
            <a:pPr algn="just">
              <a:lnSpc>
                <a:spcPts val="3734"/>
              </a:lnSpc>
            </a:pPr>
            <a:endParaRPr lang="en-US" sz="2667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727854" y="4629150"/>
            <a:ext cx="13995053" cy="139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462" lvl="1" indent="-285231" algn="just">
              <a:lnSpc>
                <a:spcPts val="3699"/>
              </a:lnSpc>
              <a:buFont typeface="Arial"/>
              <a:buChar char="•"/>
            </a:pPr>
            <a:r>
              <a:rPr lang="en-US" sz="2642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Connects Python application to MySQL database</a:t>
            </a:r>
          </a:p>
          <a:p>
            <a:pPr marL="570462" lvl="1" indent="-285231" algn="just">
              <a:lnSpc>
                <a:spcPts val="3699"/>
              </a:lnSpc>
              <a:buFont typeface="Arial"/>
              <a:buChar char="•"/>
            </a:pPr>
            <a:r>
              <a:rPr lang="en-US" sz="2642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 Used to store and retrieve registration data</a:t>
            </a:r>
          </a:p>
          <a:p>
            <a:pPr algn="just">
              <a:lnSpc>
                <a:spcPts val="3699"/>
              </a:lnSpc>
            </a:pPr>
            <a:endParaRPr lang="en-US" sz="2642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0E0EBAF7-0C0A-10EE-61EA-47D07973516A}"/>
              </a:ext>
            </a:extLst>
          </p:cNvPr>
          <p:cNvSpPr txBox="1"/>
          <p:nvPr/>
        </p:nvSpPr>
        <p:spPr>
          <a:xfrm>
            <a:off x="1915804" y="-11772900"/>
            <a:ext cx="11533847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 and challenges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0F1CE36D-F352-9694-902F-364E66FB3EF3}"/>
              </a:ext>
            </a:extLst>
          </p:cNvPr>
          <p:cNvSpPr txBox="1"/>
          <p:nvPr/>
        </p:nvSpPr>
        <p:spPr>
          <a:xfrm>
            <a:off x="-25222200" y="8431464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7E963DFA-DD61-B934-761C-AC2E41236DED}"/>
              </a:ext>
            </a:extLst>
          </p:cNvPr>
          <p:cNvSpPr txBox="1"/>
          <p:nvPr/>
        </p:nvSpPr>
        <p:spPr>
          <a:xfrm>
            <a:off x="32537400" y="10649478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Challenges Faced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CB7F0789-5E94-EF70-F369-F5B51AA9DD2E}"/>
              </a:ext>
            </a:extLst>
          </p:cNvPr>
          <p:cNvSpPr txBox="1"/>
          <p:nvPr/>
        </p:nvSpPr>
        <p:spPr>
          <a:xfrm>
            <a:off x="-12192000" y="24574500"/>
            <a:ext cx="6660406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Understanding of cloud computing concepts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Working with serverless architecture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Deploying applications on Google Cloud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 integration with web apps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D8991277-D19C-AED2-6B54-584DA443EE08}"/>
              </a:ext>
            </a:extLst>
          </p:cNvPr>
          <p:cNvSpPr txBox="1"/>
          <p:nvPr/>
        </p:nvSpPr>
        <p:spPr>
          <a:xfrm>
            <a:off x="21128466" y="20078700"/>
            <a:ext cx="6689271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Learning cloud services configuration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Connecting frontend with backend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Deployment issues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Managing data storage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29979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77077" y="986022"/>
            <a:ext cx="11533847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 and challenges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2041" y="5757403"/>
            <a:ext cx="6660406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Understanding of cloud computing concepts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Working with serverless architecture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Deploying applications on Google Cloud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 integration with web apps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23" y="773288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 flipV="1">
            <a:off x="3430852" y="9500746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66375" y="5757403"/>
            <a:ext cx="6689271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Learning cloud services configuration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Connecting frontend with backend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Deployment issues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Managing data storage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72252" y="4370580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62722" y="4370580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Challenges Faced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5517ED-B600-620A-FA8A-993F43C92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89838">
            <a:off x="2532041" y="12007126"/>
            <a:ext cx="15483619" cy="8709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6806-AF79-9FDE-440D-70566331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1B6EE4-68D5-BD62-9FA4-8B764A7002B1}"/>
              </a:ext>
            </a:extLst>
          </p:cNvPr>
          <p:cNvGrpSpPr/>
          <p:nvPr/>
        </p:nvGrpSpPr>
        <p:grpSpPr>
          <a:xfrm>
            <a:off x="-1995406" y="-3621405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03279D-E5FA-F9C8-1860-954A802B1972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F9351AD-CCCF-0747-7A63-86AD0749E05D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3A0F28C-0F03-183C-489C-F29E6D03CFCE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9D14FFB-7F57-1FEC-2DD2-1AB036104D71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5DB3183-3F5F-D840-47A4-A8C9F3F4DB94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6520E1-F1DB-336B-3DEF-5062AC3CBB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4949F02-1D54-BE40-494C-38FA73A5578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CE0D784C-2511-9628-9BD9-AD4EAC3C6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190" y="1035414"/>
            <a:ext cx="15483619" cy="8709536"/>
          </a:xfrm>
          <a:prstGeom prst="rect">
            <a:avLst/>
          </a:prstGeo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93B7BAEB-3E7F-460A-AAE9-FB5C7CD2636E}"/>
              </a:ext>
            </a:extLst>
          </p:cNvPr>
          <p:cNvSpPr txBox="1"/>
          <p:nvPr/>
        </p:nvSpPr>
        <p:spPr>
          <a:xfrm>
            <a:off x="3635545" y="-342900"/>
            <a:ext cx="11459213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7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Main Page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0909B49-BE95-4EAC-4DBD-D8AEA11B71F9}"/>
              </a:ext>
            </a:extLst>
          </p:cNvPr>
          <p:cNvSpPr txBox="1"/>
          <p:nvPr/>
        </p:nvSpPr>
        <p:spPr>
          <a:xfrm>
            <a:off x="-16643071" y="-4129230"/>
            <a:ext cx="11459213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7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Admin Page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09E09B-5B13-3330-2FD1-F512A96AC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386468">
            <a:off x="19120734" y="747144"/>
            <a:ext cx="15631488" cy="879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67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E237-4D8F-48F3-B2E7-07C9C93B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3A826F-134F-6568-5B24-5119BB205196}"/>
              </a:ext>
            </a:extLst>
          </p:cNvPr>
          <p:cNvGrpSpPr/>
          <p:nvPr/>
        </p:nvGrpSpPr>
        <p:grpSpPr>
          <a:xfrm>
            <a:off x="-1995406" y="-3621405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689DB2-B48C-FA9D-79EC-866EF285305A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BB3EC6-7DAD-CF04-0417-2035A006240C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FED8ADE-029A-9023-C949-3A1825E2D02C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A1D806-EB97-7FDA-C10C-E81CE02E5A36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258BF63-77C6-B1F2-F315-DB6D68E64910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EA188EF-94C7-443A-65DB-8D86681FBB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C6D764-7781-C12A-6A35-A762C6D47F5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7">
            <a:extLst>
              <a:ext uri="{FF2B5EF4-FFF2-40B4-BE49-F238E27FC236}">
                <a16:creationId xmlns:a16="http://schemas.microsoft.com/office/drawing/2014/main" id="{A1FFF723-65AD-BC51-6515-F12E4087EDF4}"/>
              </a:ext>
            </a:extLst>
          </p:cNvPr>
          <p:cNvSpPr txBox="1"/>
          <p:nvPr/>
        </p:nvSpPr>
        <p:spPr>
          <a:xfrm>
            <a:off x="3276600" y="-342900"/>
            <a:ext cx="11459213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7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Admin 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203925-2382-3DC2-20D4-435548A1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248658"/>
            <a:ext cx="15631488" cy="8792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A0F6E5-F368-6BB6-75F8-06D92D910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115685">
            <a:off x="26289000" y="13306237"/>
            <a:ext cx="4276982" cy="87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59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EED9-E1FD-4A83-A17D-7DE708A9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B8EB0C-FB70-7A38-9727-30776DF54CF3}"/>
              </a:ext>
            </a:extLst>
          </p:cNvPr>
          <p:cNvGrpSpPr/>
          <p:nvPr/>
        </p:nvGrpSpPr>
        <p:grpSpPr>
          <a:xfrm>
            <a:off x="-1995406" y="-3621405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B38C6F-732A-C8E5-A5CF-4F6BB9A9A1B9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D7CD77-511C-3CB0-77EC-17C6693A7ECB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68CDEC6-8491-524B-F0AD-E494C253582D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284358-DB22-C982-CD44-CD035E8E03FE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6F2F844-70BA-B01F-190C-AEBAB9744604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BDB8172-B9FF-6797-ED5C-24ECEE0D16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FD4C899-D6DB-6C48-7ED2-3F42E4D7D5C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7">
            <a:extLst>
              <a:ext uri="{FF2B5EF4-FFF2-40B4-BE49-F238E27FC236}">
                <a16:creationId xmlns:a16="http://schemas.microsoft.com/office/drawing/2014/main" id="{D51126D6-5768-9A41-734A-F5A7D1E01EBE}"/>
              </a:ext>
            </a:extLst>
          </p:cNvPr>
          <p:cNvSpPr txBox="1"/>
          <p:nvPr/>
        </p:nvSpPr>
        <p:spPr>
          <a:xfrm>
            <a:off x="3276600" y="-342900"/>
            <a:ext cx="11459213" cy="146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72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Receipt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7F58EE-51AF-7EB8-57A2-20FF732B9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09" y="1269173"/>
            <a:ext cx="4276982" cy="87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49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45401" y="3270888"/>
            <a:ext cx="8997199" cy="24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9E28C89-A80C-CDA5-76AA-217ADD99D71E}"/>
              </a:ext>
            </a:extLst>
          </p:cNvPr>
          <p:cNvSpPr txBox="1"/>
          <p:nvPr/>
        </p:nvSpPr>
        <p:spPr>
          <a:xfrm>
            <a:off x="3316746" y="-5685788"/>
            <a:ext cx="11533847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 and challenges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AB5B0AD3-BB25-193C-DF85-3FC6E73C1290}"/>
              </a:ext>
            </a:extLst>
          </p:cNvPr>
          <p:cNvSpPr txBox="1"/>
          <p:nvPr/>
        </p:nvSpPr>
        <p:spPr>
          <a:xfrm>
            <a:off x="-9829800" y="3621090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Key Learnings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4BA6EB61-0D27-BFF1-0130-57C44F2851A7}"/>
              </a:ext>
            </a:extLst>
          </p:cNvPr>
          <p:cNvSpPr txBox="1"/>
          <p:nvPr/>
        </p:nvSpPr>
        <p:spPr>
          <a:xfrm>
            <a:off x="22250400" y="3506790"/>
            <a:ext cx="729657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Challenges Faced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FCC8F1E-54EC-020D-6B8C-949F3B68DB03}"/>
              </a:ext>
            </a:extLst>
          </p:cNvPr>
          <p:cNvSpPr txBox="1"/>
          <p:nvPr/>
        </p:nvSpPr>
        <p:spPr>
          <a:xfrm>
            <a:off x="-10210800" y="12001500"/>
            <a:ext cx="6660406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Understanding of cloud computing concepts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Working with serverless architecture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Deploying applications on Google Cloud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Database integration with web apps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E26D72DE-BF85-BE19-6530-B871EBD475AB}"/>
              </a:ext>
            </a:extLst>
          </p:cNvPr>
          <p:cNvSpPr txBox="1"/>
          <p:nvPr/>
        </p:nvSpPr>
        <p:spPr>
          <a:xfrm>
            <a:off x="21869400" y="11544300"/>
            <a:ext cx="6689271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Learning cloud services configuration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Connecting frontend with backend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Deployment issues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Managing data storage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3140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843</Words>
  <Application>Microsoft Office PowerPoint</Application>
  <PresentationFormat>Custom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 Bold</vt:lpstr>
      <vt:lpstr>Arial MT Pro Bold</vt:lpstr>
      <vt:lpstr>Calibri</vt:lpstr>
      <vt:lpstr>Open Sans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College Event Registration System</dc:title>
  <dc:creator>Dhrumi Shah</dc:creator>
  <cp:lastModifiedBy>Mihir Vadher</cp:lastModifiedBy>
  <cp:revision>4</cp:revision>
  <dcterms:created xsi:type="dcterms:W3CDTF">2006-08-16T00:00:00Z</dcterms:created>
  <dcterms:modified xsi:type="dcterms:W3CDTF">2026-04-06T17:08:09Z</dcterms:modified>
  <dc:identifier>DAHF5_Tmco4</dc:identifier>
</cp:coreProperties>
</file>